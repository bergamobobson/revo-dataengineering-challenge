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0" r:id="rId14"/>
    <p:sldId id="268" r:id="rId15"/>
    <p:sldId id="269" r:id="rId16"/>
    <p:sldId id="271" r:id="rId17"/>
    <p:sldId id="273" r:id="rId1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534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184" y="8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770454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65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38B2AC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Netherlands Mobility Data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200" y="2103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38B2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Pipeline &amp; Data Engineering Challenge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2743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CBS ODiN Dataset | Star Schema | Production-Ready Pipeline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8B2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Frank | February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A36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Agenda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457200" cy="457200"/>
          </a:xfrm>
          <a:prstGeom prst="ellipse">
            <a:avLst/>
          </a:prstGeom>
          <a:solidFill>
            <a:srgbClr val="38B2AC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97280" y="12801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Challenge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97280" y="1600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execution &amp; SQL queries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772400" y="1371600"/>
            <a:ext cx="731520" cy="32004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7772400" y="13716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457200" cy="457200"/>
          </a:xfrm>
          <a:prstGeom prst="ellipse">
            <a:avLst/>
          </a:prstGeom>
          <a:solidFill>
            <a:srgbClr val="38B2AC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457200" y="2377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97280" y="23774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097280" y="25374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b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execution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772400" y="2468880"/>
            <a:ext cx="731520" cy="32004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/>
          <p:nvPr/>
        </p:nvSpPr>
        <p:spPr>
          <a:xfrm>
            <a:off x="7772400" y="246888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474720"/>
            <a:ext cx="457200" cy="457200"/>
          </a:xfrm>
          <a:prstGeom prst="ellipse">
            <a:avLst/>
          </a:prstGeom>
          <a:solidFill>
            <a:srgbClr val="38B2AC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97280" y="3474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Considerations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097280" y="3794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Scalability, quality, security &amp; beyond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772400" y="3566160"/>
            <a:ext cx="731520" cy="32004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0" name="Text 18"/>
          <p:cNvSpPr/>
          <p:nvPr/>
        </p:nvSpPr>
        <p:spPr>
          <a:xfrm>
            <a:off x="7772400" y="356616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A36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Challenge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164592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73152" cy="1645920"/>
          </a:xfrm>
          <a:prstGeom prst="rect">
            <a:avLst/>
          </a:prstGeom>
          <a:solidFill>
            <a:srgbClr val="2B6CB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463040"/>
            <a:ext cx="3657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CBS ODiN Survey (2018-2022)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Netherlands mobility patterns</a:t>
            </a:r>
            <a:endParaRPr lang="en-US" sz="1300" dirty="0"/>
          </a:p>
          <a:p>
            <a:pPr marL="0" indent="0">
              <a:buNone/>
            </a:pPr>
            <a:r>
              <a:rPr lang="en-US" sz="130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Data_csv</a:t>
            </a:r>
            <a:r>
              <a:rPr lang="en-US" sz="13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(52,800 trips records)</a:t>
            </a:r>
            <a:endParaRPr lang="en-US" sz="1300" dirty="0"/>
          </a:p>
          <a:p>
            <a:pPr marL="0" indent="0">
              <a:buNone/>
            </a:pPr>
            <a:r>
              <a:rPr lang="en-US" sz="130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Metadata_csv</a:t>
            </a:r>
            <a:r>
              <a:rPr lang="en-US" sz="13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(contains dimensions)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754880" y="1005840"/>
            <a:ext cx="3931920" cy="164592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8" name="Shape 6"/>
          <p:cNvSpPr/>
          <p:nvPr/>
        </p:nvSpPr>
        <p:spPr>
          <a:xfrm>
            <a:off x="4754880" y="1005840"/>
            <a:ext cx="73152" cy="1645920"/>
          </a:xfrm>
          <a:prstGeom prst="rect">
            <a:avLst/>
          </a:prstGeom>
          <a:solidFill>
            <a:srgbClr val="38B2AC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9" name="Text 7"/>
          <p:cNvSpPr/>
          <p:nvPr/>
        </p:nvSpPr>
        <p:spPr>
          <a:xfrm>
            <a:off x="493776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8B2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937760" y="1463040"/>
            <a:ext cx="3657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star schema design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ETL pipeline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Analytical SQL queries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Production-ready code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926080"/>
            <a:ext cx="2651760" cy="137160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2" name="Text 10"/>
          <p:cNvSpPr/>
          <p:nvPr/>
        </p:nvSpPr>
        <p:spPr>
          <a:xfrm>
            <a:off x="457200" y="301752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38B2A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52,800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457200" y="3749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 Rows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291840" y="2926080"/>
            <a:ext cx="2651760" cy="137160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5" name="Text 13"/>
          <p:cNvSpPr/>
          <p:nvPr/>
        </p:nvSpPr>
        <p:spPr>
          <a:xfrm>
            <a:off x="3291840" y="301752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38B2A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3291840" y="3749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126480" y="2926080"/>
            <a:ext cx="2651760" cy="137160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6126480" y="301752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38B2A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6126480" y="3749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 of Data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A36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Pipeline Architecture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828800" cy="45720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Parsing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286000" y="100584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560320" y="1005840"/>
            <a:ext cx="1828800" cy="45720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2560320" y="10058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560320" y="15087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Pandera Schemas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389120" y="100584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663440" y="1005840"/>
            <a:ext cx="1828800" cy="457200"/>
          </a:xfrm>
          <a:prstGeom prst="rect">
            <a:avLst/>
          </a:prstGeom>
          <a:solidFill>
            <a:srgbClr val="38B2AC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2" name="Text 10"/>
          <p:cNvSpPr/>
          <p:nvPr/>
        </p:nvSpPr>
        <p:spPr>
          <a:xfrm>
            <a:off x="4663440" y="10058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63440" y="15087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&amp; Enrich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492240" y="100584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766560" y="1005840"/>
            <a:ext cx="1828800" cy="457200"/>
          </a:xfrm>
          <a:prstGeom prst="rect">
            <a:avLst/>
          </a:prstGeom>
          <a:solidFill>
            <a:srgbClr val="38B2AC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6" name="Text 14"/>
          <p:cNvSpPr/>
          <p:nvPr/>
        </p:nvSpPr>
        <p:spPr>
          <a:xfrm>
            <a:off x="6766560" y="10058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766560" y="15087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UPSERT to DB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2011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Components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457200" y="2468880"/>
            <a:ext cx="73152" cy="731520"/>
          </a:xfrm>
          <a:prstGeom prst="rect">
            <a:avLst/>
          </a:prstGeom>
          <a:solidFill>
            <a:srgbClr val="38B2AC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0" name="Text 18"/>
          <p:cNvSpPr/>
          <p:nvPr/>
        </p:nvSpPr>
        <p:spPr>
          <a:xfrm>
            <a:off x="640080" y="24688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MetadataParser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0080" y="27889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Extracts dimensions from CBS metadata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383280"/>
            <a:ext cx="73152" cy="731520"/>
          </a:xfrm>
          <a:prstGeom prst="rect">
            <a:avLst/>
          </a:prstGeom>
          <a:solidFill>
            <a:srgbClr val="38B2AC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3" name="Text 21"/>
          <p:cNvSpPr/>
          <p:nvPr/>
        </p:nvSpPr>
        <p:spPr>
          <a:xfrm>
            <a:off x="640080" y="3383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3703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DimensionTransformer + FactTransformer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0" y="2468880"/>
            <a:ext cx="73152" cy="731520"/>
          </a:xfrm>
          <a:prstGeom prst="rect">
            <a:avLst/>
          </a:prstGeom>
          <a:solidFill>
            <a:srgbClr val="38B2AC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6" name="Text 24"/>
          <p:cNvSpPr/>
          <p:nvPr/>
        </p:nvSpPr>
        <p:spPr>
          <a:xfrm>
            <a:off x="4754880" y="24688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DataValidator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754880" y="27889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Pandera schemas with FK checks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0" y="3383280"/>
            <a:ext cx="73152" cy="731520"/>
          </a:xfrm>
          <a:prstGeom prst="rect">
            <a:avLst/>
          </a:prstGeom>
          <a:solidFill>
            <a:srgbClr val="38B2AC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9" name="Text 27"/>
          <p:cNvSpPr/>
          <p:nvPr/>
        </p:nvSpPr>
        <p:spPr>
          <a:xfrm>
            <a:off x="4754880" y="3383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Loaders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754880" y="3703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UPSERT-based idempotent loading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A36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 Schema Design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2926080" y="1371600"/>
            <a:ext cx="3291840" cy="256032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2926080" y="14173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8B2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fact_mobility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017520" y="1783080"/>
            <a:ext cx="310896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fact_id CHAR(32) PK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─────────────────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travel_motive_key FK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population_key FK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travel_mode_key FK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margin_key FK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region_key FK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period_key FK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─────────────────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trips_daily, distance_daily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time_daily, trips_yearly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distance_yearly, time_yearly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914400"/>
            <a:ext cx="2377440" cy="73152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7" name="Text 5"/>
          <p:cNvSpPr/>
          <p:nvPr/>
        </p:nvSpPr>
        <p:spPr>
          <a:xfrm>
            <a:off x="274320" y="9144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dim_travel_motives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74320" y="12801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| title | description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400800" y="914400"/>
            <a:ext cx="2377440" cy="73152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6400800" y="9144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dim_margins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0" y="12801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| title | description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74320" y="2103120"/>
            <a:ext cx="2377440" cy="73152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/>
          <p:nvPr/>
        </p:nvSpPr>
        <p:spPr>
          <a:xfrm>
            <a:off x="274320" y="21031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dim_population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74320" y="2468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| title | description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6400800" y="2103120"/>
            <a:ext cx="2377440" cy="73152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6" name="Text 14"/>
          <p:cNvSpPr/>
          <p:nvPr/>
        </p:nvSpPr>
        <p:spPr>
          <a:xfrm>
            <a:off x="6400800" y="21031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dim_regions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00800" y="2468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| title | description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274320" y="3291840"/>
            <a:ext cx="2377440" cy="73152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9" name="Text 17"/>
          <p:cNvSpPr/>
          <p:nvPr/>
        </p:nvSpPr>
        <p:spPr>
          <a:xfrm>
            <a:off x="274320" y="32918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dim_travel_modes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74320" y="365760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| title | description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6400800" y="3291840"/>
            <a:ext cx="2377440" cy="73152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2" name="Text 20"/>
          <p:cNvSpPr/>
          <p:nvPr/>
        </p:nvSpPr>
        <p:spPr>
          <a:xfrm>
            <a:off x="6400800" y="32918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dim_periods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400800" y="365760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| title | description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MD5 hash of dimension keys used as fact_id for idempotent UPSERT operations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A36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Code Architecture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320040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Structure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508760"/>
            <a:ext cx="365760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odin_mob/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config/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src/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main.py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etl.py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parser.py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transformer.py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validator.py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loader.py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sql/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test/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docker-compose.yml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Dockerfile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754880" y="1005840"/>
            <a:ext cx="3931920" cy="320040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7" name="Text 5"/>
          <p:cNvSpPr/>
          <p:nvPr/>
        </p:nvSpPr>
        <p:spPr>
          <a:xfrm>
            <a:off x="493776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8B2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Patterns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937760" y="1554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Dependency Injection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937760" y="1828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objects passed to constructors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937760" y="22402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Fluent Interface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37760" y="2514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pipeline.extract().transform().load()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937760" y="2926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Pattern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937760" y="3200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Pluggable transformers and validators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937760" y="3611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Dataclasses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937760" y="3886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config with @dataclass(frozen)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A36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Design Decisions</a:t>
            </a:r>
            <a:endParaRPr lang="en-US" sz="36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97280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1005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UPSERT for Idempotency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1005840" y="1371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CONFLICT DO UPDATE ensures pipeline can run multiple times safely</a:t>
            </a:r>
            <a:endParaRPr lang="en-US" sz="12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057400"/>
            <a:ext cx="365760" cy="3657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05840" y="1965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MD5 Hash as Fact ID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1005840" y="2331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key from 6 dimension keys ensures unique, reproducible identifiers</a:t>
            </a:r>
            <a:endParaRPr lang="en-US" sz="120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3017520"/>
            <a:ext cx="365760" cy="36576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005840" y="2926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Pandera Validation</a:t>
            </a:r>
            <a:endParaRPr lang="en-US" sz="1600" dirty="0"/>
          </a:p>
        </p:txBody>
      </p:sp>
      <p:sp>
        <p:nvSpPr>
          <p:cNvPr id="11" name="Text 6"/>
          <p:cNvSpPr/>
          <p:nvPr/>
        </p:nvSpPr>
        <p:spPr>
          <a:xfrm>
            <a:off x="1005840" y="3291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Schema-based validation with FK checks before loading</a:t>
            </a:r>
            <a:endParaRPr lang="en-US" sz="120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3977640"/>
            <a:ext cx="365760" cy="36576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005840" y="3886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Environment-based Config</a:t>
            </a:r>
            <a:endParaRPr lang="en-US" sz="1600" dirty="0"/>
          </a:p>
        </p:txBody>
      </p:sp>
      <p:sp>
        <p:nvSpPr>
          <p:cNvPr id="14" name="Text 8"/>
          <p:cNvSpPr/>
          <p:nvPr/>
        </p:nvSpPr>
        <p:spPr>
          <a:xfrm>
            <a:off x="1005840" y="4251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code runs locally and in production (Docker)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365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82880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Demo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0" y="26517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38B2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Execution &amp; SQL Queries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A36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Engineering Considerations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the simple tasks: building for production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51760" cy="64008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291840" y="1645920"/>
            <a:ext cx="2651760" cy="64008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7" name="Text 5"/>
          <p:cNvSpPr/>
          <p:nvPr/>
        </p:nvSpPr>
        <p:spPr>
          <a:xfrm>
            <a:off x="3291840" y="16459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126480" y="1645920"/>
            <a:ext cx="2651760" cy="64008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9" name="Text 7"/>
          <p:cNvSpPr/>
          <p:nvPr/>
        </p:nvSpPr>
        <p:spPr>
          <a:xfrm>
            <a:off x="6126480" y="16459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Evolution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468880"/>
            <a:ext cx="2651760" cy="64008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457200" y="246888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291840" y="2468880"/>
            <a:ext cx="2651760" cy="64008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/>
          <p:nvPr/>
        </p:nvSpPr>
        <p:spPr>
          <a:xfrm>
            <a:off x="3291840" y="246888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126480" y="2468880"/>
            <a:ext cx="2651760" cy="64008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5" name="Text 13"/>
          <p:cNvSpPr/>
          <p:nvPr/>
        </p:nvSpPr>
        <p:spPr>
          <a:xfrm>
            <a:off x="6126480" y="246888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36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Scalability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123444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73152" cy="1234440"/>
          </a:xfrm>
          <a:prstGeom prst="rect">
            <a:avLst/>
          </a:prstGeom>
          <a:solidFill>
            <a:srgbClr val="2B6CB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Implementation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280160"/>
            <a:ext cx="77724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Single-threaded Python pipeline with 52K rows (~5 MB)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dimension loading, one at a time</a:t>
            </a:r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2C"/>
                </a:solidFill>
                <a:latin typeface="Calibri" pitchFamily="34" charset="0"/>
                <a:cs typeface="Calibri" pitchFamily="34" charset="-120"/>
              </a:rPr>
              <a:t>Pandas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194560"/>
            <a:ext cx="82296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38B2A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Shape 6"/>
          <p:cNvSpPr/>
          <p:nvPr/>
        </p:nvSpPr>
        <p:spPr>
          <a:xfrm>
            <a:off x="457200" y="2194560"/>
            <a:ext cx="73152" cy="1234440"/>
          </a:xfrm>
          <a:prstGeom prst="rect">
            <a:avLst/>
          </a:prstGeom>
          <a:solidFill>
            <a:srgbClr val="38B2AC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9" name="Text 7"/>
          <p:cNvSpPr/>
          <p:nvPr/>
        </p:nvSpPr>
        <p:spPr>
          <a:xfrm>
            <a:off x="640080" y="224028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8B2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Improve → General Approach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2606040"/>
            <a:ext cx="77724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Distributed processing with frameworks like Spark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partitioning and chunk-based processing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auto-scaling (add workers based on load)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520440"/>
            <a:ext cx="8229600" cy="137160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2" name="Shape 10"/>
          <p:cNvSpPr/>
          <p:nvPr/>
        </p:nvSpPr>
        <p:spPr>
          <a:xfrm>
            <a:off x="457200" y="3520440"/>
            <a:ext cx="73152" cy="1371600"/>
          </a:xfrm>
          <a:prstGeom prst="rect">
            <a:avLst/>
          </a:prstGeom>
          <a:solidFill>
            <a:srgbClr val="FF3621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/>
          <p:nvPr/>
        </p:nvSpPr>
        <p:spPr>
          <a:xfrm>
            <a:off x="640080" y="356616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3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Databricks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3931920"/>
            <a:ext cx="7772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Apache Spark with auto-scaling clusters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Lake with optimized partitioning (Z-ordering, data skipping)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Photon engine for 2-8x SQL query acceleration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36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Schema Evolution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123444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73152" cy="1234440"/>
          </a:xfrm>
          <a:prstGeom prst="rect">
            <a:avLst/>
          </a:prstGeom>
          <a:solidFill>
            <a:srgbClr val="2B6CB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Implementation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280160"/>
            <a:ext cx="77724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migrations with ALTER TABLE and Alembic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column renaming/deleted -&gt; SCD Type 1 (UPSERT)</a:t>
            </a:r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2C"/>
                </a:solidFill>
                <a:latin typeface="Calibri" pitchFamily="34" charset="0"/>
                <a:cs typeface="Calibri" pitchFamily="34" charset="-120"/>
              </a:rPr>
              <a:t>If new column added -&gt; ignored due to strict set to False in Pandera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194560"/>
            <a:ext cx="82296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38B2A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Shape 6"/>
          <p:cNvSpPr/>
          <p:nvPr/>
        </p:nvSpPr>
        <p:spPr>
          <a:xfrm>
            <a:off x="457200" y="2194560"/>
            <a:ext cx="73152" cy="1234440"/>
          </a:xfrm>
          <a:prstGeom prst="rect">
            <a:avLst/>
          </a:prstGeom>
          <a:solidFill>
            <a:srgbClr val="38B2AC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9" name="Text 7"/>
          <p:cNvSpPr/>
          <p:nvPr/>
        </p:nvSpPr>
        <p:spPr>
          <a:xfrm>
            <a:off x="640080" y="224028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8B2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Improve → General Approach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2606040"/>
            <a:ext cx="77724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Versioned migrations with automatic rollback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Schema-on-read for flexibility vs schema-on-write for validation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travel to access previous data versions</a:t>
            </a:r>
          </a:p>
          <a:p>
            <a:pPr marL="342900" indent="-342900">
              <a:buSzPct val="100000"/>
              <a:buChar char="•"/>
            </a:pPr>
            <a:r>
              <a:rPr lang="en-US" sz="1200" dirty="0"/>
              <a:t>Set strict in </a:t>
            </a:r>
            <a:r>
              <a:rPr lang="en-US" sz="1200" dirty="0" err="1"/>
              <a:t>Panderas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520440"/>
            <a:ext cx="8229600" cy="137160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2" name="Shape 10"/>
          <p:cNvSpPr/>
          <p:nvPr/>
        </p:nvSpPr>
        <p:spPr>
          <a:xfrm>
            <a:off x="457200" y="3520440"/>
            <a:ext cx="73152" cy="1371600"/>
          </a:xfrm>
          <a:prstGeom prst="rect">
            <a:avLst/>
          </a:prstGeom>
          <a:solidFill>
            <a:srgbClr val="FF3621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/>
          <p:nvPr/>
        </p:nvSpPr>
        <p:spPr>
          <a:xfrm>
            <a:off x="640080" y="356616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3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Databricks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3931920"/>
            <a:ext cx="7772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Lake schema evolution: mergeSchema, overwriteSchema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time travel (automatic data versioning)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Unity Catalog for schema governance and lineage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36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Quality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123444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73152" cy="1234440"/>
          </a:xfrm>
          <a:prstGeom prst="rect">
            <a:avLst/>
          </a:prstGeom>
          <a:solidFill>
            <a:srgbClr val="2B6CB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Implementation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280160"/>
            <a:ext cx="77724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Pandera validation with typed Python schemas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constraints checked in code before loading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NULL and UNIQUE enforced at database level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194560"/>
            <a:ext cx="82296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38B2A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Shape 6"/>
          <p:cNvSpPr/>
          <p:nvPr/>
        </p:nvSpPr>
        <p:spPr>
          <a:xfrm>
            <a:off x="457200" y="2194560"/>
            <a:ext cx="73152" cy="1234440"/>
          </a:xfrm>
          <a:prstGeom prst="rect">
            <a:avLst/>
          </a:prstGeom>
          <a:solidFill>
            <a:srgbClr val="38B2AC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9" name="Text 7"/>
          <p:cNvSpPr/>
          <p:nvPr/>
        </p:nvSpPr>
        <p:spPr>
          <a:xfrm>
            <a:off x="640080" y="224028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8B2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Improve → General Approach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2606040"/>
            <a:ext cx="77724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frameworks (Great Expectations, Deequ, Soda)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Quarantine tables to isolate invalid records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data profiling and anomaly detection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520440"/>
            <a:ext cx="8229600" cy="137160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2" name="Shape 10"/>
          <p:cNvSpPr/>
          <p:nvPr/>
        </p:nvSpPr>
        <p:spPr>
          <a:xfrm>
            <a:off x="457200" y="3520440"/>
            <a:ext cx="73152" cy="1371600"/>
          </a:xfrm>
          <a:prstGeom prst="rect">
            <a:avLst/>
          </a:prstGeom>
          <a:solidFill>
            <a:srgbClr val="FF3621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/>
          <p:nvPr/>
        </p:nvSpPr>
        <p:spPr>
          <a:xfrm>
            <a:off x="640080" y="356616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3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Databricks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3931920"/>
            <a:ext cx="7772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Live Tables (DLT) with declarative expectations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quarantine of non-conforming data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Unity Catalog for data lineage and impact analysis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36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Observability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123444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it-IT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73152" cy="1234440"/>
          </a:xfrm>
          <a:prstGeom prst="rect">
            <a:avLst/>
          </a:prstGeom>
          <a:solidFill>
            <a:srgbClr val="2B6CB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Implementation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280160"/>
            <a:ext cx="77724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</a:t>
            </a:r>
            <a:r>
              <a:rPr lang="en-US" sz="120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</a:t>
            </a:r>
            <a:r>
              <a:rPr lang="en-US" sz="12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logged with the number of rows processed</a:t>
            </a:r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2C"/>
                </a:solidFill>
                <a:latin typeface="Calibri" pitchFamily="34" charset="0"/>
                <a:cs typeface="Calibri" pitchFamily="34" charset="-120"/>
              </a:rPr>
              <a:t>If the job failed, container return a non-zero status code</a:t>
            </a:r>
          </a:p>
          <a:p>
            <a:pPr marL="342900" indent="-342900">
              <a:buSzPct val="100000"/>
              <a:buChar char="•"/>
            </a:pP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194560"/>
            <a:ext cx="82296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38B2A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Shape 6"/>
          <p:cNvSpPr/>
          <p:nvPr/>
        </p:nvSpPr>
        <p:spPr>
          <a:xfrm>
            <a:off x="457200" y="2194560"/>
            <a:ext cx="73152" cy="1234440"/>
          </a:xfrm>
          <a:prstGeom prst="rect">
            <a:avLst/>
          </a:prstGeom>
          <a:solidFill>
            <a:srgbClr val="38B2AC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9" name="Text 7"/>
          <p:cNvSpPr/>
          <p:nvPr/>
        </p:nvSpPr>
        <p:spPr>
          <a:xfrm>
            <a:off x="640080" y="224028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8B2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Improve → General Approach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2606040"/>
            <a:ext cx="77724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Distributed tracing (OpenTelemetry, Jaeger)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metrics with Prometheus/Grafana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lineage to understand change impact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520440"/>
            <a:ext cx="8229600" cy="137160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2" name="Shape 10"/>
          <p:cNvSpPr/>
          <p:nvPr/>
        </p:nvSpPr>
        <p:spPr>
          <a:xfrm>
            <a:off x="457200" y="3520440"/>
            <a:ext cx="73152" cy="1371600"/>
          </a:xfrm>
          <a:prstGeom prst="rect">
            <a:avLst/>
          </a:prstGeom>
          <a:solidFill>
            <a:srgbClr val="FF3621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/>
          <p:nvPr/>
        </p:nvSpPr>
        <p:spPr>
          <a:xfrm>
            <a:off x="640080" y="356616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3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Databricks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3931920"/>
            <a:ext cx="7772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 UI for detailed job analysis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Ganglia metrics + integrated query profiling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data lineage in Unity Catalog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36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Testing Strategy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123444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73152" cy="1234440"/>
          </a:xfrm>
          <a:prstGeom prst="rect">
            <a:avLst/>
          </a:prstGeom>
          <a:solidFill>
            <a:srgbClr val="2B6CB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Implementation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280160"/>
            <a:ext cx="77724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with custom markers (unit, integration, e2e)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tests per module, Docker Compose for E2E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fixtures, local execution only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194560"/>
            <a:ext cx="82296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38B2A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Shape 6"/>
          <p:cNvSpPr/>
          <p:nvPr/>
        </p:nvSpPr>
        <p:spPr>
          <a:xfrm>
            <a:off x="457200" y="2194560"/>
            <a:ext cx="73152" cy="1234440"/>
          </a:xfrm>
          <a:prstGeom prst="rect">
            <a:avLst/>
          </a:prstGeom>
          <a:solidFill>
            <a:srgbClr val="38B2AC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9" name="Text 7"/>
          <p:cNvSpPr/>
          <p:nvPr/>
        </p:nvSpPr>
        <p:spPr>
          <a:xfrm>
            <a:off x="640080" y="224028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8B2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Improve → General Approach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2606040"/>
            <a:ext cx="77724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pyramid: many unit tests, fewer integration, minimal E2E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mocking and synthetic data generation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pipeline with automated tests on every commit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520440"/>
            <a:ext cx="8229600" cy="137160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2" name="Shape 10"/>
          <p:cNvSpPr/>
          <p:nvPr/>
        </p:nvSpPr>
        <p:spPr>
          <a:xfrm>
            <a:off x="457200" y="3520440"/>
            <a:ext cx="73152" cy="1371600"/>
          </a:xfrm>
          <a:prstGeom prst="rect">
            <a:avLst/>
          </a:prstGeom>
          <a:solidFill>
            <a:srgbClr val="FF3621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/>
          <p:nvPr/>
        </p:nvSpPr>
        <p:spPr>
          <a:xfrm>
            <a:off x="640080" y="356616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3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Databricks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3931920"/>
            <a:ext cx="7772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Asset Bundles (DABs) for CI/CD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Nutter framework for notebook testing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clusters identical to production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36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Security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123444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it-IT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73152" cy="1234440"/>
          </a:xfrm>
          <a:prstGeom prst="rect">
            <a:avLst/>
          </a:prstGeom>
          <a:solidFill>
            <a:srgbClr val="2B6CB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Implementation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280160"/>
            <a:ext cx="77724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variables + AWS Secrets Manager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+ Security Groups for network isolation</a:t>
            </a:r>
          </a:p>
        </p:txBody>
      </p:sp>
      <p:sp>
        <p:nvSpPr>
          <p:cNvPr id="7" name="Shape 5"/>
          <p:cNvSpPr/>
          <p:nvPr/>
        </p:nvSpPr>
        <p:spPr>
          <a:xfrm>
            <a:off x="457200" y="2194560"/>
            <a:ext cx="82296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38B2A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Shape 6"/>
          <p:cNvSpPr/>
          <p:nvPr/>
        </p:nvSpPr>
        <p:spPr>
          <a:xfrm>
            <a:off x="457200" y="2194560"/>
            <a:ext cx="73152" cy="1234440"/>
          </a:xfrm>
          <a:prstGeom prst="rect">
            <a:avLst/>
          </a:prstGeom>
          <a:solidFill>
            <a:srgbClr val="38B2AC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9" name="Text 7"/>
          <p:cNvSpPr/>
          <p:nvPr/>
        </p:nvSpPr>
        <p:spPr>
          <a:xfrm>
            <a:off x="640080" y="224028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8B2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Improve → General Approach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2606040"/>
            <a:ext cx="77724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Centralized secrets management with automatic rotation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Row-level and column-level security for sensitive data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logging and compliance tracking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520440"/>
            <a:ext cx="8229600" cy="137160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2" name="Shape 10"/>
          <p:cNvSpPr/>
          <p:nvPr/>
        </p:nvSpPr>
        <p:spPr>
          <a:xfrm>
            <a:off x="457200" y="3520440"/>
            <a:ext cx="73152" cy="1371600"/>
          </a:xfrm>
          <a:prstGeom prst="rect">
            <a:avLst/>
          </a:prstGeom>
          <a:solidFill>
            <a:srgbClr val="FF3621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/>
          <p:nvPr/>
        </p:nvSpPr>
        <p:spPr>
          <a:xfrm>
            <a:off x="640080" y="356616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3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Databricks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3931920"/>
            <a:ext cx="7772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Unity Catalog with fine-grained ACLs (table, row, column)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secret scopes with Azure Key Vault / AWS Secrets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audit logs and data masking for PII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365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Cost Efficiency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123444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73152" cy="1234440"/>
          </a:xfrm>
          <a:prstGeom prst="rect">
            <a:avLst/>
          </a:prstGeom>
          <a:solidFill>
            <a:srgbClr val="2B6CB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Implementation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280160"/>
            <a:ext cx="77724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optimization, limited cost visibility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194560"/>
            <a:ext cx="82296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38B2A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Shape 6"/>
          <p:cNvSpPr/>
          <p:nvPr/>
        </p:nvSpPr>
        <p:spPr>
          <a:xfrm>
            <a:off x="457200" y="2194560"/>
            <a:ext cx="73152" cy="1234440"/>
          </a:xfrm>
          <a:prstGeom prst="rect">
            <a:avLst/>
          </a:prstGeom>
          <a:solidFill>
            <a:srgbClr val="38B2AC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9" name="Text 7"/>
          <p:cNvSpPr/>
          <p:nvPr/>
        </p:nvSpPr>
        <p:spPr>
          <a:xfrm>
            <a:off x="640080" y="224028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8B2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Improve → General Approach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2606040"/>
            <a:ext cx="77724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 compute (pay-per-query or pay-per-use)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Auto-pause for inactive resources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Spot/Preemptible instances for batch workloads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520440"/>
            <a:ext cx="8229600" cy="1371600"/>
          </a:xfrm>
          <a:prstGeom prst="rect">
            <a:avLst/>
          </a:prstGeom>
          <a:solidFill>
            <a:srgbClr val="1A365D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2" name="Shape 10"/>
          <p:cNvSpPr/>
          <p:nvPr/>
        </p:nvSpPr>
        <p:spPr>
          <a:xfrm>
            <a:off x="457200" y="3520440"/>
            <a:ext cx="73152" cy="1371600"/>
          </a:xfrm>
          <a:prstGeom prst="rect">
            <a:avLst/>
          </a:prstGeom>
          <a:solidFill>
            <a:srgbClr val="FF3621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/>
          <p:nvPr/>
        </p:nvSpPr>
        <p:spPr>
          <a:xfrm>
            <a:off x="640080" y="356616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36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Databricks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3931920"/>
            <a:ext cx="7772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 SQL Warehouses with auto-stop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 instances for clusters (up to 70% savings)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attribution by workspace/team/project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365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82880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Trebuchet MS" pitchFamily="34" charset="0"/>
              </a:rPr>
              <a:t>THANK YOU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0" y="292608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2084</TotalTime>
  <Words>985</Words>
  <Application>Microsoft Macintosh PowerPoint</Application>
  <PresentationFormat>Presentazione su schermo (16:9)</PresentationFormat>
  <Paragraphs>231</Paragraphs>
  <Slides>17</Slides>
  <Notes>17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17</vt:i4>
      </vt:variant>
    </vt:vector>
  </HeadingPairs>
  <TitlesOfParts>
    <vt:vector size="22" baseType="lpstr">
      <vt:lpstr>Arial</vt:lpstr>
      <vt:lpstr>Calibri</vt:lpstr>
      <vt:lpstr>Consolas</vt:lpstr>
      <vt:lpstr>Trebuchet MS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Netherlands Mobility Data - ETL Pipeline</dc:title>
  <dc:subject>PptxGenJS Presentation</dc:subject>
  <dc:creator>Frank</dc:creator>
  <cp:lastModifiedBy>Frank Massoda</cp:lastModifiedBy>
  <cp:revision>5</cp:revision>
  <dcterms:created xsi:type="dcterms:W3CDTF">2026-02-04T11:45:05Z</dcterms:created>
  <dcterms:modified xsi:type="dcterms:W3CDTF">2026-02-05T22:32:48Z</dcterms:modified>
</cp:coreProperties>
</file>